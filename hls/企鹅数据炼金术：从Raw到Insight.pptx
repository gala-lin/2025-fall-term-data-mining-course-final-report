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1" r:id="rId11"/>
    <p:sldId id="282" r:id="rId12"/>
    <p:sldId id="265" r:id="rId13"/>
    <p:sldId id="266" r:id="rId14"/>
    <p:sldId id="283" r:id="rId15"/>
    <p:sldId id="267" r:id="rId16"/>
    <p:sldId id="286" r:id="rId17"/>
    <p:sldId id="287" r:id="rId18"/>
    <p:sldId id="285" r:id="rId19"/>
    <p:sldId id="288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4" r:id="rId33"/>
    <p:sldId id="280" r:id="rId34"/>
  </p:sldIdLst>
  <p:sldSz cx="12192000" cy="6858000"/>
  <p:notesSz cx="6858000" cy="12192000"/>
  <p:embeddedFontLst>
    <p:embeddedFont>
      <p:font typeface="等线" panose="02010600030101010101" pitchFamily="2" charset="-122"/>
      <p:regular r:id="rId36"/>
      <p:bold r:id="rId3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563883475@qq.com" initials="1" lastIdx="2" clrIdx="0">
    <p:extLst>
      <p:ext uri="{19B8F6BF-5375-455C-9EA6-DF929625EA0E}">
        <p15:presenceInfo xmlns:p15="http://schemas.microsoft.com/office/powerpoint/2012/main" userId="548243321e475c8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05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72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47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95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80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369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292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651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214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3.png"/><Relationship Id="rId4" Type="http://schemas.openxmlformats.org/officeDocument/2006/relationships/image" Target="../media/image8.jpg"/><Relationship Id="rId9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371/journal.pone.0090081" TargetMode="External"/><Relationship Id="rId3" Type="http://schemas.openxmlformats.org/officeDocument/2006/relationships/image" Target="../media/image8.jpg"/><Relationship Id="rId7" Type="http://schemas.openxmlformats.org/officeDocument/2006/relationships/hyperlink" Target="https://github.com/allisonhorst/palmerpenguin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/>
          <p:cNvPicPr>
            <a:picLocks noChangeAspect="1"/>
          </p:cNvPicPr>
          <p:nvPr/>
        </p:nvPicPr>
        <p:blipFill>
          <a:blip r:embed="rId4"/>
          <a:srcRect t="83" b="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108" y="2548276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Text 1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rgbClr val="000000"/>
                </a:solidFill>
                <a:cs typeface="+mn-ea"/>
                <a:sym typeface="+mn-lt"/>
              </a:rPr>
              <a:t>汇报人</a:t>
            </a:r>
            <a:r>
              <a:rPr lang="en-US" sz="16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第九组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Text 2"/>
          <p:cNvSpPr/>
          <p:nvPr/>
        </p:nvSpPr>
        <p:spPr>
          <a:xfrm>
            <a:off x="7240270" y="6099810"/>
            <a:ext cx="3091815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cs typeface="+mn-ea"/>
                <a:sym typeface="+mn-lt"/>
              </a:rPr>
              <a:t>汇报日期：2025/11/27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3" name="Shape 9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194408" y="2974996"/>
            <a:ext cx="7715885" cy="152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cs typeface="+mn-ea"/>
                <a:sym typeface="+mn-lt"/>
              </a:rPr>
              <a:t>企鹅数据炼金术：从Raw到Insight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5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49A3138-88B4-4662-9C56-67FF46289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34" y="729075"/>
            <a:ext cx="1371074" cy="1582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85" y="5199380"/>
            <a:ext cx="7179310" cy="7366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85" y="4401185"/>
            <a:ext cx="71793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85" y="3590925"/>
            <a:ext cx="7179310" cy="7366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85" y="2780665"/>
            <a:ext cx="7179310" cy="7366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85" y="1970405"/>
            <a:ext cx="7179310" cy="736600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85" y="1160145"/>
            <a:ext cx="7179310" cy="736600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cs typeface="+mn-ea"/>
                <a:sym typeface="+mn-lt"/>
              </a:rPr>
              <a:t>目录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45210" y="2010410"/>
            <a:ext cx="2663190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439E1"/>
                </a:solidFill>
                <a:cs typeface="+mn-ea"/>
                <a:sym typeface="+mn-lt"/>
              </a:rPr>
              <a:t>CONTENTS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125220" y="198882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1459749" y="61159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1459749" y="61159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1459749" y="62129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1459749" y="62129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1459749" y="63098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1459749" y="63098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9" name="Image 6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20" name="Image 7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21" name="Image 8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744710" y="779780"/>
            <a:ext cx="2170430" cy="56896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4305935" y="1200785"/>
            <a:ext cx="8420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cs typeface="+mn-ea"/>
                <a:sym typeface="+mn-lt"/>
              </a:rPr>
              <a:t>01.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5147310" y="1323975"/>
            <a:ext cx="6026785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cs typeface="+mn-ea"/>
                <a:sym typeface="+mn-lt"/>
              </a:rPr>
              <a:t>破冰启航：选题与使命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4305935" y="2026285"/>
            <a:ext cx="8420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cs typeface="+mn-ea"/>
                <a:sym typeface="+mn-lt"/>
              </a:rPr>
              <a:t>02.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5147310" y="2159635"/>
            <a:ext cx="6027420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cs typeface="+mn-ea"/>
                <a:sym typeface="+mn-lt"/>
              </a:rPr>
              <a:t>原石打磨：数据预处理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4305935" y="2828925"/>
            <a:ext cx="8420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cs typeface="+mn-ea"/>
                <a:sym typeface="+mn-lt"/>
              </a:rPr>
              <a:t>03.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5147310" y="2970530"/>
            <a:ext cx="6268085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cs typeface="+mn-ea"/>
                <a:sym typeface="+mn-lt"/>
              </a:rPr>
              <a:t>探针下潜：EDA全景洞察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4305935" y="3651250"/>
            <a:ext cx="8420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cs typeface="+mn-ea"/>
                <a:sym typeface="+mn-lt"/>
              </a:rPr>
              <a:t>04.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5147310" y="3768090"/>
            <a:ext cx="6268085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cs typeface="+mn-ea"/>
                <a:sym typeface="+mn-lt"/>
              </a:rPr>
              <a:t>模型角斗场：分类大比拼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4305935" y="4465320"/>
            <a:ext cx="8686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cs typeface="+mn-ea"/>
                <a:sym typeface="+mn-lt"/>
              </a:rPr>
              <a:t>05.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5147310" y="4588510"/>
            <a:ext cx="6268085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cs typeface="+mn-ea"/>
                <a:sym typeface="+mn-lt"/>
              </a:rPr>
              <a:t>无监督探照灯：聚类与关联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32" name="Text 21"/>
          <p:cNvSpPr/>
          <p:nvPr/>
        </p:nvSpPr>
        <p:spPr>
          <a:xfrm>
            <a:off x="4305935" y="5243195"/>
            <a:ext cx="8420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cs typeface="+mn-ea"/>
                <a:sym typeface="+mn-lt"/>
              </a:rPr>
              <a:t>06.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33" name="Text 22"/>
          <p:cNvSpPr/>
          <p:nvPr/>
        </p:nvSpPr>
        <p:spPr>
          <a:xfrm>
            <a:off x="5147310" y="5382895"/>
            <a:ext cx="6268085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cs typeface="+mn-ea"/>
                <a:sym typeface="+mn-lt"/>
              </a:rPr>
              <a:t>收官与展望：结论回音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2CC1FBA7-1BE9-44E1-B08A-0B06474B3E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" y="2535516"/>
            <a:ext cx="3066522" cy="3400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cs typeface="+mn-ea"/>
                <a:sym typeface="+mn-lt"/>
              </a:rPr>
              <a:t>01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 err="1">
                <a:solidFill>
                  <a:srgbClr val="0D0D0D"/>
                </a:solidFill>
                <a:cs typeface="+mn-ea"/>
                <a:sym typeface="+mn-lt"/>
              </a:rPr>
              <a:t>选题与</a:t>
            </a:r>
            <a:r>
              <a:rPr lang="zh-CN" altLang="en-US" sz="3400" dirty="0">
                <a:solidFill>
                  <a:srgbClr val="0D0D0D"/>
                </a:solidFill>
                <a:cs typeface="+mn-ea"/>
                <a:sym typeface="+mn-lt"/>
              </a:rPr>
              <a:t>任务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865" y="1846025"/>
            <a:ext cx="3395345" cy="374269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6-d3jn7jgs8jdo4os5dj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665" y="1819528"/>
            <a:ext cx="3395345" cy="374269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6-d3jn7jgs8jdo4os5dj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65" y="1695450"/>
            <a:ext cx="3395345" cy="37426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1020" y="532130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南极三绅士数据为何值得挖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615315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3"/>
          <p:cNvSpPr/>
          <p:nvPr/>
        </p:nvSpPr>
        <p:spPr>
          <a:xfrm>
            <a:off x="615315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4"/>
          <p:cNvSpPr/>
          <p:nvPr/>
        </p:nvSpPr>
        <p:spPr>
          <a:xfrm>
            <a:off x="615315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15315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615315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15315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443210" y="462280"/>
            <a:ext cx="762000" cy="762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443210" y="593090"/>
            <a:ext cx="762000" cy="76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数据集特点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帕尔默企鹅数据集包含344个样本，涵盖5个形态特征、3个物种、3个岛屿和2个性别，数据量虽小但信息密度高，是数据挖掘的优质素材。</a:t>
            </a: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cs typeface="+mn-ea"/>
                <a:sym typeface="+mn-lt"/>
              </a:rPr>
              <a:t>数据集致力于是提供一个优秀的数据集用于数据探索与可视化，作为鸢尾花（</a:t>
            </a:r>
            <a:r>
              <a:rPr lang="en-US" altLang="zh-CN" sz="1400" dirty="0">
                <a:solidFill>
                  <a:srgbClr val="262626"/>
                </a:solidFill>
                <a:cs typeface="+mn-ea"/>
                <a:sym typeface="+mn-lt"/>
              </a:rPr>
              <a:t>Iris</a:t>
            </a:r>
            <a:r>
              <a:rPr lang="zh-CN" altLang="en-US" sz="1400" dirty="0">
                <a:solidFill>
                  <a:srgbClr val="262626"/>
                </a:solidFill>
                <a:cs typeface="+mn-ea"/>
                <a:sym typeface="+mn-lt"/>
              </a:rPr>
              <a:t>）数据集的替代方案</a:t>
            </a:r>
            <a:endParaRPr lang="en-US" altLang="zh-CN" sz="1400" dirty="0">
              <a:solidFill>
                <a:srgbClr val="262626"/>
              </a:solidFill>
              <a:cs typeface="+mn-ea"/>
              <a:sym typeface="+mn-lt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587240" y="2005583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采集背景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4587240" y="2719323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该数据集源自美国南极长期生态研究计划，生态变量完整且缺失值极少，天然适合无监督和监督学习算法的综合应用。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8042910" y="212225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rgbClr val="0439E1"/>
                </a:solidFill>
                <a:cs typeface="+mn-ea"/>
                <a:sym typeface="+mn-lt"/>
              </a:rPr>
              <a:t>项目</a:t>
            </a:r>
            <a:r>
              <a:rPr lang="zh-CN" altLang="en-US" sz="2000" dirty="0">
                <a:solidFill>
                  <a:srgbClr val="0439E1"/>
                </a:solidFill>
                <a:cs typeface="+mn-ea"/>
                <a:sym typeface="+mn-lt"/>
              </a:rPr>
              <a:t>目标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8042910" y="283599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团队设定五大使命：数据清洗、探索性分析、分类预测、聚类验证和关联洞察，旨在全流程演练数据挖掘技术，为生态监测提供范式。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5D96292-A037-4E0D-89A5-230F507D5957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540" y="3992181"/>
            <a:ext cx="4806731" cy="272287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E527162-3135-4BF7-A4BD-84B5F3030D79}"/>
              </a:ext>
            </a:extLst>
          </p:cNvPr>
          <p:cNvSpPr txBox="1"/>
          <p:nvPr/>
        </p:nvSpPr>
        <p:spPr>
          <a:xfrm>
            <a:off x="5211018" y="6488668"/>
            <a:ext cx="3158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F2328"/>
                </a:solidFill>
                <a:effectLst/>
                <a:cs typeface="+mn-ea"/>
                <a:sym typeface="+mn-lt"/>
              </a:rPr>
              <a:t>Artwork by @allison_horst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5915" y="1668473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716395" y="1481783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16395" y="1481783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2155" y="753110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任务拆解与角色分工全景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677400" y="6138873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818620" y="5845503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18620" y="5845503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818620" y="5942494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18620" y="5942494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818620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18620" y="6039485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4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25540" y="5564962"/>
            <a:ext cx="6954204" cy="168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cs typeface="+mn-ea"/>
                <a:sym typeface="+mn-lt"/>
              </a:rPr>
              <a:t>项目按数据挖掘生命周期拆为</a:t>
            </a:r>
            <a:r>
              <a:rPr lang="zh-CN" altLang="en-US" sz="1400" dirty="0">
                <a:solidFill>
                  <a:srgbClr val="262626"/>
                </a:solidFill>
                <a:cs typeface="+mn-ea"/>
                <a:sym typeface="+mn-lt"/>
              </a:rPr>
              <a:t>三</a:t>
            </a:r>
            <a:r>
              <a:rPr lang="en-US" sz="1400" dirty="0" err="1">
                <a:solidFill>
                  <a:srgbClr val="262626"/>
                </a:solidFill>
                <a:cs typeface="+mn-ea"/>
                <a:sym typeface="+mn-lt"/>
              </a:rPr>
              <a:t>大板块：预处理与EDA、分类建模、关联与聚类，确保每个环节都有针对性的分析和操作</a:t>
            </a: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。</a:t>
            </a:r>
            <a:endParaRPr lang="en-US" sz="1600" dirty="0">
              <a:cs typeface="+mn-ea"/>
              <a:sym typeface="+mn-lt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739F4C0-3B28-4652-82CE-21DAA7BDB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344012"/>
              </p:ext>
            </p:extLst>
          </p:nvPr>
        </p:nvGraphicFramePr>
        <p:xfrm>
          <a:off x="1613536" y="1538844"/>
          <a:ext cx="9095740" cy="3851004"/>
        </p:xfrm>
        <a:graphic>
          <a:graphicData uri="http://schemas.openxmlformats.org/drawingml/2006/table">
            <a:tbl>
              <a:tblPr firstRow="1" firstCol="1" bandRow="1"/>
              <a:tblGrid>
                <a:gridCol w="602138">
                  <a:extLst>
                    <a:ext uri="{9D8B030D-6E8A-4147-A177-3AD203B41FA5}">
                      <a16:colId xmlns:a16="http://schemas.microsoft.com/office/drawing/2014/main" val="1147118132"/>
                    </a:ext>
                  </a:extLst>
                </a:gridCol>
                <a:gridCol w="1327979">
                  <a:extLst>
                    <a:ext uri="{9D8B030D-6E8A-4147-A177-3AD203B41FA5}">
                      <a16:colId xmlns:a16="http://schemas.microsoft.com/office/drawing/2014/main" val="2891330083"/>
                    </a:ext>
                  </a:extLst>
                </a:gridCol>
                <a:gridCol w="7165623">
                  <a:extLst>
                    <a:ext uri="{9D8B030D-6E8A-4147-A177-3AD203B41FA5}">
                      <a16:colId xmlns:a16="http://schemas.microsoft.com/office/drawing/2014/main" val="1623353779"/>
                    </a:ext>
                  </a:extLst>
                </a:gridCol>
              </a:tblGrid>
              <a:tr h="310644">
                <a:tc>
                  <a:txBody>
                    <a:bodyPr/>
                    <a:lstStyle/>
                    <a:p>
                      <a:pPr algn="just"/>
                      <a:r>
                        <a:rPr lang="zh-CN" sz="1200" b="1" kern="1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负责人</a:t>
                      </a:r>
                      <a:endParaRPr lang="zh-CN" sz="1200" kern="10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200" b="1" kern="1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部分</a:t>
                      </a:r>
                      <a:endParaRPr lang="zh-CN" sz="1200" kern="10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200" b="1" kern="1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工作内容</a:t>
                      </a:r>
                      <a:endParaRPr lang="zh-CN" sz="1200" kern="10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639760"/>
                  </a:ext>
                </a:extLst>
              </a:tr>
              <a:tr h="1939037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胡林森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EDA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（探索型数据分析）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预处理</a:t>
                      </a:r>
                      <a:endParaRPr lang="zh-CN" sz="1200" kern="1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统计缺失值、异常值，执行清洗方案；</a:t>
                      </a:r>
                    </a:p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创建有意义的衍生特征，避免覆盖原始数据；</a:t>
                      </a:r>
                    </a:p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对数值特征进行标准化处理，对分类特征；</a:t>
                      </a:r>
                    </a:p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生成预处理后的最终数据集。</a:t>
                      </a:r>
                    </a:p>
                    <a:p>
                      <a:pPr algn="l"/>
                      <a:r>
                        <a:rPr lang="zh-CN" sz="1200" b="1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数据探索</a:t>
                      </a:r>
                      <a:endParaRPr lang="zh-CN" sz="1200" kern="1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完成单变量分布（种类、岛屿、性别分布）、双变量关联（特征相关性热力图、散点图）、多维度对比（不同种类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性别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岛屿的特征差异可视化）；</a:t>
                      </a:r>
                    </a:p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整理可视化图表集（标注图表含义、分析结论），为报告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“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数据可视化分析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”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章节提供素材。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144863"/>
                  </a:ext>
                </a:extLst>
              </a:tr>
              <a:tr h="869803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郑智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分类模型构建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划分训练集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测试集（按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7:3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或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8:2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比例）；</a:t>
                      </a:r>
                    </a:p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确认特征变量与目标变量（种类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性别），处理建模所需的额外数据格式转换。</a:t>
                      </a:r>
                    </a:p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训练逻辑回归、决策树、随机森林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种模型</a:t>
                      </a:r>
                    </a:p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采用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折交叉验证评估模型稳定性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913607"/>
                  </a:ext>
                </a:extLst>
              </a:tr>
              <a:tr h="58804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周程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关联规则挖掘与聚类分析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使用</a:t>
                      </a:r>
                      <a:r>
                        <a:rPr lang="en-US" sz="1200" kern="100" dirty="0" err="1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Apriori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算法，设置合理的最小支持度、最小置信度，挖掘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“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种类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岛屿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”“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种类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特征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”“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岛屿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特征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”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等关联规则；</a:t>
                      </a:r>
                      <a:b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</a:b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基于身体特征数据，使用</a:t>
                      </a:r>
                      <a:r>
                        <a:rPr lang="en-US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PCA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降维；通过肘部法则和轮廓系数确定</a:t>
                      </a:r>
                      <a:r>
                        <a:rPr lang="en-US" sz="1200" kern="100" dirty="0" err="1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KMeans</a:t>
                      </a:r>
                      <a:r>
                        <a:rPr lang="zh-CN" sz="1200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最佳聚类数，执行聚类并可视化聚类结果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4762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cs typeface="+mn-ea"/>
                <a:sym typeface="+mn-lt"/>
              </a:rPr>
              <a:t>02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cs typeface="+mn-ea"/>
                <a:sym typeface="+mn-lt"/>
              </a:rPr>
              <a:t>原石打磨：数据预处理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830" y="753110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缺失异常值定位与修复策略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1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31770" y="23685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cs typeface="+mn-ea"/>
                <a:sym typeface="+mn-lt"/>
              </a:rPr>
              <a:t>01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71830" y="3256280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缺失值处理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29348" y="3678555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数据中存在11条缺失性别、4条异常体重，占比4.4%。采用贝叶斯概率填充性别缺失，避免随机插补带来的类内分布漂移。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599805" y="23685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cs typeface="+mn-ea"/>
                <a:sym typeface="+mn-lt"/>
              </a:rPr>
              <a:t>02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539865" y="3256280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异常值修复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997383" y="3678555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通过箱型图锁定体重离群点，并结合Z-score复核，确保数据的准确性和一致性。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g.png"/>
          <p:cNvPicPr>
            <a:picLocks noChangeAspect="1"/>
          </p:cNvPicPr>
          <p:nvPr/>
        </p:nvPicPr>
        <p:blipFill>
          <a:blip r:embed="rId4">
            <a:alphaModFix amt="40000"/>
          </a:blip>
          <a:srcRect t="12164" b="6895"/>
          <a:stretch/>
        </p:blipFill>
        <p:spPr>
          <a:xfrm>
            <a:off x="1151255" y="0"/>
            <a:ext cx="361505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特征缩放与编码方案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4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/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/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/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8" name="Text 2"/>
          <p:cNvSpPr/>
          <p:nvPr/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数值特征缩放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Text 3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对数值特征采用StandardScaler进行零均值单位方差标准化，消除不同量纲带来的影响，为后续建模提供统一的数据尺度。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Text 4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Text 5"/>
          <p:cNvSpPr/>
          <p:nvPr/>
        </p:nvSpPr>
        <p:spPr>
          <a:xfrm>
            <a:off x="2105025" y="3318192"/>
            <a:ext cx="7706360" cy="37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分类特征编码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cs typeface="+mn-ea"/>
                <a:sym typeface="+mn-lt"/>
              </a:rPr>
              <a:t>使用OrdinalEncoder</a:t>
            </a:r>
            <a:endParaRPr lang="en-US" sz="1400" dirty="0">
              <a:solidFill>
                <a:srgbClr val="262626"/>
              </a:solidFill>
              <a:cs typeface="+mn-ea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cs typeface="+mn-ea"/>
                <a:sym typeface="+mn-lt"/>
              </a:rPr>
              <a:t>将岛屿、性别映射为整数，保留其有序性</a:t>
            </a: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；</a:t>
            </a:r>
          </a:p>
          <a:p>
            <a:pPr algn="just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cs typeface="+mn-ea"/>
                <a:sym typeface="+mn-lt"/>
              </a:rPr>
              <a:t>物种标签则采用独热编码供多分类softmax使用</a:t>
            </a: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4" name="Text 8"/>
          <p:cNvSpPr/>
          <p:nvPr/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保留原始尺度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为兼顾树模型与线性模型，同时保留原始尺度副本，通过Pipeline封装两套输入，确保模型对比的公平性和复现的便捷性。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2BFB0E0-05DC-4F87-BDBB-D7C3DAB23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360" y="120777"/>
            <a:ext cx="5276088" cy="22128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cs typeface="+mn-ea"/>
                <a:sym typeface="+mn-lt"/>
              </a:rPr>
              <a:t>03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cs typeface="+mn-ea"/>
                <a:sym typeface="+mn-lt"/>
              </a:rPr>
              <a:t>探针下潜：EDA全景洞察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F93D309-48EE-45A5-8592-2A5FDA9904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987" y="706755"/>
            <a:ext cx="2539096" cy="2500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17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947" y="5068521"/>
            <a:ext cx="7797394" cy="1424699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425770" y="3300318"/>
            <a:ext cx="8008166" cy="1492488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542" y="1567766"/>
            <a:ext cx="7797394" cy="14246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440055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rgbClr val="0D0D0D"/>
                </a:solidFill>
                <a:cs typeface="+mn-ea"/>
                <a:sym typeface="+mn-lt"/>
              </a:rPr>
              <a:t>单变量分布</a:t>
            </a: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-</a:t>
            </a:r>
            <a:r>
              <a:rPr lang="zh-CN" altLang="en-US" sz="3600" dirty="0">
                <a:solidFill>
                  <a:srgbClr val="0D0D0D"/>
                </a:solidFill>
                <a:cs typeface="+mn-ea"/>
                <a:sym typeface="+mn-lt"/>
              </a:rPr>
              <a:t>核密度图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742950"/>
            <a:ext cx="762000" cy="7620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6"/>
          <a:srcRect l="275" r="275"/>
          <a:stretch/>
        </p:blipFill>
        <p:spPr>
          <a:xfrm>
            <a:off x="3555381" y="1809248"/>
            <a:ext cx="733019" cy="73640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6"/>
          <a:srcRect l="275" r="275"/>
          <a:stretch/>
        </p:blipFill>
        <p:spPr>
          <a:xfrm>
            <a:off x="10883916" y="3375158"/>
            <a:ext cx="733019" cy="736400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6"/>
          <a:srcRect l="275" r="275"/>
          <a:stretch/>
        </p:blipFill>
        <p:spPr>
          <a:xfrm>
            <a:off x="3469021" y="5292858"/>
            <a:ext cx="733019" cy="73640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3559827" y="1899418"/>
            <a:ext cx="593743" cy="571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3" name="Text 2"/>
          <p:cNvSpPr/>
          <p:nvPr/>
        </p:nvSpPr>
        <p:spPr>
          <a:xfrm>
            <a:off x="4716162" y="1457458"/>
            <a:ext cx="6664693" cy="4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鳍状肢长度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4" name="Text 3"/>
          <p:cNvSpPr/>
          <p:nvPr/>
        </p:nvSpPr>
        <p:spPr>
          <a:xfrm>
            <a:off x="4716162" y="1809248"/>
            <a:ext cx="6717774" cy="119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highlight>
                  <a:srgbClr val="C0C0C0"/>
                </a:highlight>
                <a:cs typeface="+mn-ea"/>
                <a:sym typeface="+mn-lt"/>
              </a:rPr>
              <a:t>鳍状肢长度是物种分水岭，Gentoo均值230 mm，Adelie仅190 mm，无重叠区间，这一特征在物种区分上具有显著优势。</a:t>
            </a:r>
            <a:endParaRPr lang="en-US" sz="1600" dirty="0">
              <a:highlight>
                <a:srgbClr val="C0C0C0"/>
              </a:highlight>
              <a:cs typeface="+mn-ea"/>
              <a:sym typeface="+mn-lt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0888362" y="3465328"/>
            <a:ext cx="593743" cy="571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5"/>
          <p:cNvSpPr/>
          <p:nvPr/>
        </p:nvSpPr>
        <p:spPr>
          <a:xfrm>
            <a:off x="3757875" y="3237020"/>
            <a:ext cx="6717774" cy="38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体重分布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6"/>
          <p:cNvSpPr/>
          <p:nvPr/>
        </p:nvSpPr>
        <p:spPr>
          <a:xfrm>
            <a:off x="3757875" y="3588810"/>
            <a:ext cx="6717774" cy="114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highlight>
                  <a:srgbClr val="C0C0C0"/>
                </a:highlight>
                <a:cs typeface="+mn-ea"/>
                <a:sym typeface="+mn-lt"/>
              </a:rPr>
              <a:t>体重分布呈现三峰，Gentoo峰值5500 g，Adelie 3700 g，Chinstrap居中4500 g，体重是区分物种的重要指标之一。</a:t>
            </a:r>
            <a:endParaRPr lang="en-US" sz="1600" dirty="0">
              <a:highlight>
                <a:srgbClr val="C0C0C0"/>
              </a:highlight>
              <a:cs typeface="+mn-ea"/>
              <a:sym typeface="+mn-lt"/>
            </a:endParaRPr>
          </a:p>
        </p:txBody>
      </p:sp>
      <p:sp>
        <p:nvSpPr>
          <p:cNvPr id="18" name="Text 7"/>
          <p:cNvSpPr/>
          <p:nvPr/>
        </p:nvSpPr>
        <p:spPr>
          <a:xfrm>
            <a:off x="3473467" y="5383028"/>
            <a:ext cx="593743" cy="571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9" name="Text 8"/>
          <p:cNvSpPr/>
          <p:nvPr/>
        </p:nvSpPr>
        <p:spPr>
          <a:xfrm>
            <a:off x="4420252" y="4936623"/>
            <a:ext cx="6717227" cy="39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喙深特征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0" name="Text 9"/>
          <p:cNvSpPr/>
          <p:nvPr/>
        </p:nvSpPr>
        <p:spPr>
          <a:xfrm>
            <a:off x="4420252" y="5288413"/>
            <a:ext cx="6717774" cy="113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喙深反向指标显著，Gentoo平均仅15 mm，最浅，而Adelie与Chinstrap达19 mm，这一特征在物种区分上也具有独特价值。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41EC007E-D0D2-4016-AC81-093CDF2D4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DCFB8FB-9B90-436E-86DD-1DB7B046BE42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283301" y="1311001"/>
            <a:ext cx="7706661" cy="451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46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ADCFB8FB-9B90-436E-86DD-1DB7B046BE4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562938" y="1460040"/>
            <a:ext cx="7427595" cy="4437697"/>
          </a:xfrm>
          <a:prstGeom prst="rect">
            <a:avLst/>
          </a:prstGeom>
        </p:spPr>
      </p:pic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17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947" y="5068521"/>
            <a:ext cx="7797394" cy="1424699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425770" y="3300318"/>
            <a:ext cx="8008166" cy="1492488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542" y="1567766"/>
            <a:ext cx="7797394" cy="14246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440055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单变量分布揭示物种密码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742950"/>
            <a:ext cx="762000" cy="7620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7"/>
          <a:srcRect l="275" r="275"/>
          <a:stretch/>
        </p:blipFill>
        <p:spPr>
          <a:xfrm>
            <a:off x="3555381" y="1809248"/>
            <a:ext cx="733019" cy="73640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7"/>
          <a:srcRect l="275" r="275"/>
          <a:stretch/>
        </p:blipFill>
        <p:spPr>
          <a:xfrm>
            <a:off x="10883916" y="3375158"/>
            <a:ext cx="733019" cy="736400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7"/>
          <a:srcRect l="275" r="275"/>
          <a:stretch/>
        </p:blipFill>
        <p:spPr>
          <a:xfrm>
            <a:off x="3469021" y="5292858"/>
            <a:ext cx="733019" cy="73640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3559827" y="1899418"/>
            <a:ext cx="593743" cy="571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3" name="Text 2"/>
          <p:cNvSpPr/>
          <p:nvPr/>
        </p:nvSpPr>
        <p:spPr>
          <a:xfrm>
            <a:off x="4716162" y="1457458"/>
            <a:ext cx="6664693" cy="4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鳍状肢长度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4" name="Text 3"/>
          <p:cNvSpPr/>
          <p:nvPr/>
        </p:nvSpPr>
        <p:spPr>
          <a:xfrm>
            <a:off x="4716162" y="1809248"/>
            <a:ext cx="6717774" cy="119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highlight>
                  <a:srgbClr val="C0C0C0"/>
                </a:highlight>
                <a:cs typeface="+mn-ea"/>
                <a:sym typeface="+mn-lt"/>
              </a:rPr>
              <a:t>鳍状肢长度是物种分水岭，Gentoo均值230 mm，Adelie仅190 mm，无重叠区间，这一特征在物种区分上具有显著优势。</a:t>
            </a:r>
            <a:endParaRPr lang="en-US" sz="1600" dirty="0">
              <a:highlight>
                <a:srgbClr val="C0C0C0"/>
              </a:highlight>
              <a:cs typeface="+mn-ea"/>
              <a:sym typeface="+mn-lt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0888362" y="3465328"/>
            <a:ext cx="593743" cy="571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5"/>
          <p:cNvSpPr/>
          <p:nvPr/>
        </p:nvSpPr>
        <p:spPr>
          <a:xfrm>
            <a:off x="3757875" y="3237020"/>
            <a:ext cx="6717774" cy="38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体重分布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6"/>
          <p:cNvSpPr/>
          <p:nvPr/>
        </p:nvSpPr>
        <p:spPr>
          <a:xfrm>
            <a:off x="3757875" y="3588810"/>
            <a:ext cx="6717774" cy="114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highlight>
                  <a:srgbClr val="C0C0C0"/>
                </a:highlight>
                <a:cs typeface="+mn-ea"/>
                <a:sym typeface="+mn-lt"/>
              </a:rPr>
              <a:t>体重分布呈现三峰，Gentoo峰值5500 g，Adelie 3700 g，Chinstrap居中4500 g，体重是区分物种的重要指标之一。</a:t>
            </a:r>
            <a:endParaRPr lang="en-US" sz="1600" dirty="0">
              <a:highlight>
                <a:srgbClr val="C0C0C0"/>
              </a:highlight>
              <a:cs typeface="+mn-ea"/>
              <a:sym typeface="+mn-lt"/>
            </a:endParaRPr>
          </a:p>
        </p:txBody>
      </p:sp>
      <p:sp>
        <p:nvSpPr>
          <p:cNvPr id="18" name="Text 7"/>
          <p:cNvSpPr/>
          <p:nvPr/>
        </p:nvSpPr>
        <p:spPr>
          <a:xfrm>
            <a:off x="3473467" y="5383028"/>
            <a:ext cx="593743" cy="571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9" name="Text 8"/>
          <p:cNvSpPr/>
          <p:nvPr/>
        </p:nvSpPr>
        <p:spPr>
          <a:xfrm>
            <a:off x="4420252" y="4936623"/>
            <a:ext cx="6717227" cy="39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喙深特征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0" name="Text 9"/>
          <p:cNvSpPr/>
          <p:nvPr/>
        </p:nvSpPr>
        <p:spPr>
          <a:xfrm>
            <a:off x="4420252" y="5288413"/>
            <a:ext cx="6717774" cy="113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喙深反向指标显著，Gentoo平均仅15 mm，最浅，而Adelie与Chinstrap达19 mm，这一特征在物种区分上也具有独特价值。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41EC007E-D0D2-4016-AC81-093CDF2D4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6537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17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62990" y="3084195"/>
            <a:ext cx="8926830" cy="16637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440055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单变量分布揭示物种密码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742950"/>
            <a:ext cx="762000" cy="7620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7"/>
          <a:srcRect l="275" r="275"/>
          <a:stretch/>
        </p:blipFill>
        <p:spPr>
          <a:xfrm>
            <a:off x="9625330" y="3469005"/>
            <a:ext cx="688340" cy="691515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9629775" y="355917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5"/>
          <p:cNvSpPr/>
          <p:nvPr/>
        </p:nvSpPr>
        <p:spPr>
          <a:xfrm>
            <a:off x="1395095" y="3300095"/>
            <a:ext cx="779526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体重分布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395095" y="3651885"/>
            <a:ext cx="779526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体重分布呈现三峰，Gentoo峰值5500 g，Adelie 3700 g，Chinstrap居中4500 g，体重是区分物种的重要指标之一。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41EC007E-D0D2-4016-AC81-093CDF2D4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1305CE31-685A-4F00-BB13-07A33AC8E71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51283" y="679350"/>
            <a:ext cx="5177155" cy="413575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19981F8-2D6C-4A0E-BC8B-E28ABFDEC27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55431" y="766928"/>
            <a:ext cx="5239913" cy="39606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56298" y="0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双变量相关热力图解码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3" name="Image 0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6"/>
          <a:srcRect l="275" r="275"/>
          <a:stretch/>
        </p:blipFill>
        <p:spPr>
          <a:xfrm>
            <a:off x="2139315" y="3669665"/>
            <a:ext cx="688340" cy="69151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09-16:35:25-d3jn7j8s8jdo4os5dj3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5150" y="3851910"/>
            <a:ext cx="1288415" cy="3302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6"/>
          <a:srcRect l="275" r="275"/>
          <a:stretch/>
        </p:blipFill>
        <p:spPr>
          <a:xfrm>
            <a:off x="5775325" y="3669665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5-d3jn7j8s8jdo4os5dj3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0525" y="3851910"/>
            <a:ext cx="1288415" cy="33020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6"/>
          <a:srcRect l="275" r="275"/>
          <a:stretch/>
        </p:blipFill>
        <p:spPr>
          <a:xfrm>
            <a:off x="9412605" y="3669665"/>
            <a:ext cx="688340" cy="69151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09-16:35:25-d3jn7j8s8jdo4os5dj3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0980" y="3851910"/>
            <a:ext cx="1288415" cy="3302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130425" y="375602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76325" y="4580255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相关系数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15645" y="5289550"/>
            <a:ext cx="3527426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Pearson热力图显示鳍状肢与体重相关系数0.87，为全场最高；喙长与体重0.58次之，表明这些特征之间存在较强的相关性。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775008" y="37617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711700" y="4580255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物种差异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351020" y="5289550"/>
            <a:ext cx="3527426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喙长与喙深在Adelie/Chinstrap中呈正相关0.60，却在Gentoo中逆转为-0.21，提示不同物种的形态演化路径存在差异。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Text 7"/>
          <p:cNvSpPr/>
          <p:nvPr/>
        </p:nvSpPr>
        <p:spPr>
          <a:xfrm>
            <a:off x="9411970" y="376555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8"/>
          <p:cNvSpPr/>
          <p:nvPr/>
        </p:nvSpPr>
        <p:spPr>
          <a:xfrm>
            <a:off x="8352155" y="4580255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岛屿影响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991475" y="5289550"/>
            <a:ext cx="3527426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岛屿因子与体型弱相关，梦想岛样本更重，托尔格森岛更轻，可能受觅食海域深度影响，为后续关联规则提供先验假设。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56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717325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rgbClr val="0D0D0D"/>
                </a:solidFill>
                <a:cs typeface="+mn-ea"/>
                <a:sym typeface="+mn-lt"/>
              </a:rPr>
              <a:t>多维度对比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57650" y="2143125"/>
            <a:ext cx="7212965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三因子分组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057650" y="2726055"/>
            <a:ext cx="7212965" cy="110617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按物种×性别×岛屿三因子分组，箱线对比发现同一岛屿内雄性Gentoo体重波动最小，CV仅6%，显示种内稳定性。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4057650" y="4046855"/>
            <a:ext cx="7213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性别差异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4057650" y="4629785"/>
            <a:ext cx="7212965" cy="110617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cs typeface="+mn-ea"/>
                <a:sym typeface="+mn-lt"/>
              </a:rPr>
              <a:t>雌性Adelie在比斯科岛显著偏轻，推测育雏期能量分配差异，说明性别与岛屿的交互效应对体型有显著影响</a:t>
            </a: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。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F46BC1F-04A9-4434-889D-B42648ACA90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759200" y="204501"/>
            <a:ext cx="8173720" cy="630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59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rgbClr val="0D0D0D"/>
                </a:solidFill>
                <a:cs typeface="+mn-ea"/>
                <a:sym typeface="+mn-lt"/>
              </a:rPr>
              <a:t>多维度对比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F46BC1F-04A9-4434-889D-B42648ACA903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0" y="1766887"/>
            <a:ext cx="5503545" cy="50857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68775" y="3406729"/>
            <a:ext cx="7212965" cy="576580"/>
          </a:xfrm>
          <a:prstGeom prst="rect">
            <a:avLst/>
          </a:prstGeom>
          <a:solidFill>
            <a:srgbClr val="0439E1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 喙长↔体重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168775" y="3989659"/>
            <a:ext cx="7212965" cy="110617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t"/>
          <a:lstStyle/>
          <a:p>
            <a:pPr indent="304800" algn="just">
              <a:spcBef>
                <a:spcPts val="600"/>
              </a:spcBef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Gentoo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的点集中在“右上区域”，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Adelie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在“左下区域”，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Chinstrap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在中间，三类点几乎不重叠，区分度极高。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0ADCE13-FB2B-47C7-923B-E6EA114262EA}"/>
              </a:ext>
            </a:extLst>
          </p:cNvPr>
          <p:cNvSpPr/>
          <p:nvPr/>
        </p:nvSpPr>
        <p:spPr>
          <a:xfrm>
            <a:off x="101600" y="5444067"/>
            <a:ext cx="1363133" cy="1329266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56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rgbClr val="0D0D0D"/>
                </a:solidFill>
                <a:cs typeface="+mn-ea"/>
                <a:sym typeface="+mn-lt"/>
              </a:rPr>
              <a:t>多维度对比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F46BC1F-04A9-4434-889D-B42648ACA90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1766887"/>
            <a:ext cx="5503545" cy="50857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68775" y="3406729"/>
            <a:ext cx="7212965" cy="576580"/>
          </a:xfrm>
          <a:prstGeom prst="rect">
            <a:avLst/>
          </a:prstGeom>
          <a:solidFill>
            <a:srgbClr val="0439E1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 鳍状肢长度↔体重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168775" y="3989659"/>
            <a:ext cx="7212965" cy="110617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t"/>
          <a:lstStyle/>
          <a:p>
            <a:pPr indent="304800" algn="just">
              <a:spcBef>
                <a:spcPts val="600"/>
              </a:spcBef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所有种类都呈现“鳍状肢越长，体重越重”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spcBef>
                <a:spcPts val="600"/>
              </a:spcBef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Gentoo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的点完全“独立成簇”，和另外两种企鹅几乎没有重叠。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0ADCE13-FB2B-47C7-923B-E6EA114262EA}"/>
              </a:ext>
            </a:extLst>
          </p:cNvPr>
          <p:cNvSpPr/>
          <p:nvPr/>
        </p:nvSpPr>
        <p:spPr>
          <a:xfrm>
            <a:off x="2446867" y="5287857"/>
            <a:ext cx="1363133" cy="1329266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035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56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rgbClr val="0D0D0D"/>
                </a:solidFill>
                <a:cs typeface="+mn-ea"/>
                <a:sym typeface="+mn-lt"/>
              </a:rPr>
              <a:t>多维度对比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F46BC1F-04A9-4434-889D-B42648ACA90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1766887"/>
            <a:ext cx="5503545" cy="50857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68775" y="3406729"/>
            <a:ext cx="7212965" cy="576580"/>
          </a:xfrm>
          <a:prstGeom prst="rect">
            <a:avLst/>
          </a:prstGeom>
          <a:solidFill>
            <a:srgbClr val="0439E1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喙长↔喙深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168775" y="3989659"/>
            <a:ext cx="7212965" cy="110617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t"/>
          <a:lstStyle/>
          <a:p>
            <a:pPr indent="304800" algn="just">
              <a:spcBef>
                <a:spcPts val="600"/>
              </a:spcBef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Gentoo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的点集群独立，但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Adelie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Chinstrap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的点大量重叠（说明这两种企鹅在“喙长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喙深”的组合上相似度很高）。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0ADCE13-FB2B-47C7-923B-E6EA114262EA}"/>
              </a:ext>
            </a:extLst>
          </p:cNvPr>
          <p:cNvSpPr/>
          <p:nvPr/>
        </p:nvSpPr>
        <p:spPr>
          <a:xfrm>
            <a:off x="128693" y="3030386"/>
            <a:ext cx="1363133" cy="1329266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912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56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rgbClr val="0D0D0D"/>
                </a:solidFill>
                <a:cs typeface="+mn-ea"/>
                <a:sym typeface="+mn-lt"/>
              </a:rPr>
              <a:t>多维度对比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F46BC1F-04A9-4434-889D-B42648ACA90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1766887"/>
            <a:ext cx="5503545" cy="50857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57650" y="4046855"/>
            <a:ext cx="7213600" cy="525780"/>
          </a:xfrm>
          <a:prstGeom prst="rect">
            <a:avLst/>
          </a:prstGeom>
          <a:solidFill>
            <a:srgbClr val="0439E1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鳍状肢长度↔喙深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4058285" y="4506383"/>
            <a:ext cx="7212965" cy="110617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t"/>
          <a:lstStyle/>
          <a:p>
            <a:pPr indent="304800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区分度较高的特征组合：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Gentoo“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鳍状肢长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+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喙深浅”，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Adelie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和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Chinstrap“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鳍状肢短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+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喙深深”。</a:t>
            </a:r>
            <a:endParaRPr lang="en-US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0ADCE13-FB2B-47C7-923B-E6EA114262EA}"/>
              </a:ext>
            </a:extLst>
          </p:cNvPr>
          <p:cNvSpPr/>
          <p:nvPr/>
        </p:nvSpPr>
        <p:spPr>
          <a:xfrm>
            <a:off x="1357842" y="4207933"/>
            <a:ext cx="1363133" cy="1329266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15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56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rgbClr val="0D0D0D"/>
                </a:solidFill>
                <a:cs typeface="+mn-ea"/>
                <a:sym typeface="+mn-lt"/>
              </a:rPr>
              <a:t>多维度对比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F46BC1F-04A9-4434-889D-B42648ACA90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1766887"/>
            <a:ext cx="5503545" cy="50857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16475" y="1644558"/>
            <a:ext cx="7213600" cy="525780"/>
          </a:xfrm>
          <a:prstGeom prst="rect">
            <a:avLst/>
          </a:prstGeom>
          <a:solidFill>
            <a:srgbClr val="0439E1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  小结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4817110" y="2104085"/>
            <a:ext cx="7212965" cy="194976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t"/>
          <a:lstStyle/>
          <a:p>
            <a:pPr indent="304800" algn="just">
              <a:lnSpc>
                <a:spcPct val="150000"/>
              </a:lnSpc>
              <a:spcBef>
                <a:spcPts val="600"/>
              </a:spcBef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Gentoo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企鹅集群较独立，而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Adelie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与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Chinstrap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在部分特征组合（如喙长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-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喙深）上存在重叠。该分析不仅明确了企鹅形态特征的关联规律与种类差异，还为后续分类模型构建提供了关键依据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——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lt"/>
              </a:rPr>
              <a:t>优先选择鳍状肢长度、喙深作为核心特征可提升识别准确率，为模型构建环节奠定了基础。</a:t>
            </a:r>
            <a:endParaRPr lang="en-US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6764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cs typeface="+mn-ea"/>
                <a:sym typeface="+mn-lt"/>
              </a:rPr>
              <a:t>04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cs typeface="+mn-ea"/>
                <a:sym typeface="+mn-lt"/>
              </a:rPr>
              <a:t>模型角斗场：分类大比拼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23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物种三分类 baseline 搭建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958850" y="4513580"/>
            <a:ext cx="4178300" cy="5099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4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246630" y="2288540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数据划分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采用7:3分层抽样划分训练测试集，保持三物种比例，确保模型训练和测试的代表性。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568950" y="229552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模型选择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选用逻辑回归、决策树、随机森林三基线模型，统一使用标准化后的4项形态特征进行训练和评估。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852535" y="231584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初步结果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首轮结果表明随机森林OOB精度96.1%，宏平均F1 0.96；决策树92.4%；逻辑回归88.7%，树模型显著优于线性模型。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80" y="0"/>
            <a:ext cx="12192000" cy="29730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763" t="-40" r="763" b="40"/>
          <a:stretch/>
        </p:blipFill>
        <p:spPr>
          <a:xfrm>
            <a:off x="1904365" y="1858010"/>
            <a:ext cx="779145" cy="79057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763" t="-40" r="763" b="40"/>
          <a:stretch/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763" t="-40" r="763" b="40"/>
          <a:stretch/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6298" y="657860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十折交叉验证与超参精修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Text 1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8" name="Text 2"/>
          <p:cNvSpPr/>
          <p:nvPr/>
        </p:nvSpPr>
        <p:spPr>
          <a:xfrm>
            <a:off x="866775" y="2830195"/>
            <a:ext cx="2853690" cy="7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随机森林调优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Text 3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对随机森林采用GridSearch遍历参数，十折CV最优参数为200棵树、深度无限制、最小分裂2，平均准确率97.3%，方差仅1.1%。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Text 4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Text 5"/>
          <p:cNvSpPr/>
          <p:nvPr/>
        </p:nvSpPr>
        <p:spPr>
          <a:xfrm>
            <a:off x="4655820" y="3248025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决策树优化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决策树经剪枝后深度限6，F1提升2个百分点，过拟合现象得到有效缓解。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3" name="Text 7"/>
          <p:cNvSpPr/>
          <p:nvPr/>
        </p:nvSpPr>
        <p:spPr>
          <a:xfrm>
            <a:off x="9544685" y="204152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444865" y="2809875"/>
            <a:ext cx="2853690" cy="7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逻辑回归改进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逻辑回归加入交互项后准确率升至93.4%，但仍不及树模型，验证了非线性边界在物种分类中的必要性。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性别二分类与特征重要性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210" y="5626735"/>
            <a:ext cx="2939415" cy="1314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27760" y="2645410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性别分类结果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性别二分类任务中，随机森林测试准确率94.7%，表现优异，说明该模型在性别预测上具有较高的准确性。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728210" y="2085975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特征重要性排序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Gini重要性排序显示鳍状肢长度＞体重＞喙长＞喙深，累计贡献0.92，表明体型特征在性别判断中起主导作用。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328025" y="2777490"/>
            <a:ext cx="285369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SHAP值解释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SHAP值揭示当鳍状肢&gt;215 mm且体重&gt;5000 g时，雄性概率突增至0.9，为野外快速目测鉴定提供了可解释的阈值。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cs typeface="+mn-ea"/>
                <a:sym typeface="+mn-lt"/>
              </a:rPr>
              <a:t>05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cs typeface="+mn-ea"/>
                <a:sym typeface="+mn-lt"/>
              </a:rPr>
              <a:t>无监督探照灯：聚类与关联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g.png"/>
          <p:cNvPicPr>
            <a:picLocks noChangeAspect="1"/>
          </p:cNvPicPr>
          <p:nvPr/>
        </p:nvPicPr>
        <p:blipFill>
          <a:blip r:embed="rId4">
            <a:alphaModFix amt="40000"/>
          </a:blip>
          <a:srcRect t="12164" b="6895"/>
          <a:stretch/>
        </p:blipFill>
        <p:spPr>
          <a:xfrm>
            <a:off x="1151255" y="0"/>
            <a:ext cx="361505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PCA降维与肘部法则定K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4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/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/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/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8" name="Text 2"/>
          <p:cNvSpPr/>
          <p:nvPr/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PCA降维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Text 3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对4项形态特征做PCA降维，前二轴解释方差累计达92%，可视作无损降维，为后续聚类分析提供了有效的低维表示。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Text 4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Text 5"/>
          <p:cNvSpPr/>
          <p:nvPr/>
        </p:nvSpPr>
        <p:spPr>
          <a:xfrm>
            <a:off x="2105025" y="3331845"/>
            <a:ext cx="7706360" cy="37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肘部法则应用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肘部法则显示SSE在K=3处出现明显拐点，轮廓系数0.58为峰值，提示天然簇数与已知物种数一致，为聚类分析提供了重要依据。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4" name="Text 8"/>
          <p:cNvSpPr/>
          <p:nvPr/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聚类结果评估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KMeans随机初值50次，最终AMI=0.89，RI=0.93，聚类与真实标签高度重叠，验证了数据集标注的高质量。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1g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61645" y="1942465"/>
            <a:ext cx="11273790" cy="45078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790" y="892175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KMeans簇边界与误判案例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1055" y="228790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误判分布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95655" y="2704465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聚类结果仅11只样本与标注不符，集中分布在Adelie-Chinstrap交界，形态特征介于两物种之间，具有一定的模糊性。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457950" y="4302760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生物学解释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457950" y="4719320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通过复核原始编号，发现7只采集于同一巢区，支持杂交或亚成体的生物学解释，为野外调查提供了新的研究方向。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865" y="2195830"/>
            <a:ext cx="3395345" cy="374269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6-d3jn7jgs8jdo4os5dj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665" y="2009775"/>
            <a:ext cx="3395345" cy="374269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6-d3jn7jgs8jdo4os5dj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65" y="1695450"/>
            <a:ext cx="3395345" cy="37426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1020" y="532130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Apriori挖掘隐性搭配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615315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3"/>
          <p:cNvSpPr/>
          <p:nvPr/>
        </p:nvSpPr>
        <p:spPr>
          <a:xfrm>
            <a:off x="615315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4"/>
          <p:cNvSpPr/>
          <p:nvPr/>
        </p:nvSpPr>
        <p:spPr>
          <a:xfrm>
            <a:off x="615315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15315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615315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15315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443210" y="462280"/>
            <a:ext cx="762000" cy="762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443210" y="593090"/>
            <a:ext cx="762000" cy="76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规则挖掘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设置最小支持度10%、置信度70%，挖掘到3条强规则，这些规则揭示了形态特征与物种之间的隐性关联。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规则示例一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鳍状肢&gt;210 mm ∧ 喙深&lt;16 mm → Gentoo（置信度96%），这一规则为快速现场判定物种提供了有力支持。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规则示例二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体重&lt;4000 g ∧ 岛屿=梦想岛 → Adelie（置信度82%），说明岛屿与体重的组合特征对物种判断具有重要意义。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cs typeface="+mn-ea"/>
                <a:sym typeface="+mn-lt"/>
              </a:rPr>
              <a:t>06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cs typeface="+mn-ea"/>
                <a:sym typeface="+mn-lt"/>
              </a:rPr>
              <a:t>收官与展望：结论回音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五大目标达成度自评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3" name="Image 0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4"/>
          <a:srcRect l="275" r="275"/>
          <a:stretch/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09-16:35:25-d3jn7j8s8jdo4os5dj3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4"/>
          <a:srcRect l="275" r="275"/>
          <a:stretch/>
        </p:blipFill>
        <p:spPr>
          <a:xfrm>
            <a:off x="5796915" y="2049780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5-d3jn7j8s8jdo4os5dj3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115" y="2232025"/>
            <a:ext cx="1288415" cy="33020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4"/>
          <a:srcRect l="275" r="275"/>
          <a:stretch/>
        </p:blipFill>
        <p:spPr>
          <a:xfrm>
            <a:off x="9434195" y="2049780"/>
            <a:ext cx="688340" cy="69151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09-16:35:25-d3jn7j8s8jdo4os5dj3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2570" y="2232025"/>
            <a:ext cx="1288415" cy="3302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数据清洗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120140" y="3669665"/>
            <a:ext cx="2761615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数据清洗后纯净度达到100%，缺失值归零，为后续分析奠定了坚实的基础。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796598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探索性分析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755515" y="3669665"/>
            <a:ext cx="2761615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EDA产出20余幅图表，提炼出4条形态区分规律，深入揭示了企鹅数据的内在特征和分布规律。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Text 7"/>
          <p:cNvSpPr/>
          <p:nvPr/>
        </p:nvSpPr>
        <p:spPr>
          <a:xfrm>
            <a:off x="943356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8"/>
          <p:cNvSpPr/>
          <p:nvPr/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分类任务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395970" y="3669665"/>
            <a:ext cx="2761615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物种预测准确率达到97.3%、性别预测准确率94.7%，满足了科研级精度要求，展现了模型的高效性。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rcRect r="15090" b="15201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5-d3jn7j8s8jdo4os5dj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1290" y="2486660"/>
            <a:ext cx="9105265" cy="32880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0860" y="1240155"/>
            <a:ext cx="11169650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五大目标达成度自评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5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5085" y="5517515"/>
            <a:ext cx="2170430" cy="5099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305175" y="2801620"/>
            <a:ext cx="371221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62E1"/>
                </a:solidFill>
                <a:cs typeface="+mn-ea"/>
                <a:sym typeface="+mn-lt"/>
              </a:rPr>
              <a:t>聚类分析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9"/>
          <p:cNvSpPr/>
          <p:nvPr/>
        </p:nvSpPr>
        <p:spPr>
          <a:xfrm>
            <a:off x="3447415" y="3384550"/>
            <a:ext cx="3385820" cy="239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聚类AMI=0.89，无监督成功复现有监督边界，验证了形态特征在物种区分上的有效性。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7414260" y="2801620"/>
            <a:ext cx="371221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62E1"/>
                </a:solidFill>
                <a:cs typeface="+mn-ea"/>
                <a:sym typeface="+mn-lt"/>
              </a:rPr>
              <a:t>关联规则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7556500" y="3384550"/>
            <a:ext cx="3385820" cy="225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关联规则输出3条高置信策略，可直接用于野外快速鉴定，为实际应用提供了有价值的指导。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22" name="Image 4" descr="https://kimi-img.moonshot.cn/pub/slides/slides_tmpl/image/25-10-09-16:35:25-d3jn7j8s8jdo4os5dj2g.png">
            <a:extLst>
              <a:ext uri="{FF2B5EF4-FFF2-40B4-BE49-F238E27FC236}">
                <a16:creationId xmlns:a16="http://schemas.microsoft.com/office/drawing/2014/main" id="{B7C9B846-D0DC-4837-B349-3CA81AAE55E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5" r="275"/>
          <a:stretch/>
        </p:blipFill>
        <p:spPr>
          <a:xfrm>
            <a:off x="3606800" y="2503329"/>
            <a:ext cx="688340" cy="691515"/>
          </a:xfrm>
          <a:prstGeom prst="rect">
            <a:avLst/>
          </a:prstGeom>
        </p:spPr>
      </p:pic>
      <p:pic>
        <p:nvPicPr>
          <p:cNvPr id="23" name="Image 5" descr="https://kimi-img.moonshot.cn/pub/slides/slides_tmpl/image/25-10-09-16:35:25-d3jn7j8s8jdo4os5dj3g.png">
            <a:extLst>
              <a:ext uri="{FF2B5EF4-FFF2-40B4-BE49-F238E27FC236}">
                <a16:creationId xmlns:a16="http://schemas.microsoft.com/office/drawing/2014/main" id="{AA44B407-E198-4A27-BF84-203FC9BF18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5175" y="2685574"/>
            <a:ext cx="1288415" cy="330200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6AE1C6A3-8DCD-4A3C-852C-5EA70F03504C}"/>
              </a:ext>
            </a:extLst>
          </p:cNvPr>
          <p:cNvSpPr/>
          <p:nvPr/>
        </p:nvSpPr>
        <p:spPr>
          <a:xfrm>
            <a:off x="3606165" y="2599214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4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25" name="Image 4" descr="https://kimi-img.moonshot.cn/pub/slides/slides_tmpl/image/25-10-09-16:35:25-d3jn7j8s8jdo4os5dj2g.png">
            <a:extLst>
              <a:ext uri="{FF2B5EF4-FFF2-40B4-BE49-F238E27FC236}">
                <a16:creationId xmlns:a16="http://schemas.microsoft.com/office/drawing/2014/main" id="{8CD6D9D2-216C-4894-A457-3506FE8E732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5" r="275"/>
          <a:stretch/>
        </p:blipFill>
        <p:spPr>
          <a:xfrm>
            <a:off x="7922895" y="2486660"/>
            <a:ext cx="688340" cy="691515"/>
          </a:xfrm>
          <a:prstGeom prst="rect">
            <a:avLst/>
          </a:prstGeom>
        </p:spPr>
      </p:pic>
      <p:pic>
        <p:nvPicPr>
          <p:cNvPr id="26" name="Image 5" descr="https://kimi-img.moonshot.cn/pub/slides/slides_tmpl/image/25-10-09-16:35:25-d3jn7j8s8jdo4os5dj3g.png">
            <a:extLst>
              <a:ext uri="{FF2B5EF4-FFF2-40B4-BE49-F238E27FC236}">
                <a16:creationId xmlns:a16="http://schemas.microsoft.com/office/drawing/2014/main" id="{8C00C022-8780-4298-835D-985367A526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1270" y="2668905"/>
            <a:ext cx="1288415" cy="330200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685C8010-A00E-4139-8141-53AE1E98AEE9}"/>
              </a:ext>
            </a:extLst>
          </p:cNvPr>
          <p:cNvSpPr/>
          <p:nvPr/>
        </p:nvSpPr>
        <p:spPr>
          <a:xfrm>
            <a:off x="7922260" y="25825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cs typeface="+mn-ea"/>
                <a:sym typeface="+mn-lt"/>
              </a:rPr>
              <a:t>5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50" y="2185670"/>
            <a:ext cx="11015345" cy="31927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318375" y="1027430"/>
            <a:ext cx="3193415" cy="55092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73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cs typeface="+mn-ea"/>
                <a:sym typeface="+mn-lt"/>
              </a:rPr>
              <a:t>生态意义与后续拓展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5" name="Shape 1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84630" y="2601595"/>
            <a:ext cx="426656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cs typeface="+mn-ea"/>
                <a:sym typeface="+mn-lt"/>
              </a:rPr>
              <a:t>生态意义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484630" y="2987040"/>
            <a:ext cx="3596640" cy="296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cs typeface="+mn-ea"/>
                <a:sym typeface="+mn-lt"/>
              </a:rPr>
              <a:t>研究证实鳍状肢长度与体重为物种与性别核心指标，支持“资源持有能力”假说，为生态学研究提供了有力的数据支持。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036435" y="2643505"/>
            <a:ext cx="3860165" cy="343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cs typeface="+mn-ea"/>
                <a:sym typeface="+mn-lt"/>
              </a:rPr>
              <a:t>后续拓展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7036435" y="3023870"/>
            <a:ext cx="3596640" cy="276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cs typeface="+mn-ea"/>
                <a:sym typeface="+mn-lt"/>
              </a:rPr>
              <a:t>未来可引入时序遥感海温、叶绿素数据，构建动态模型，预测气候变暖下物种分布漂移，拓展研究的深度和广度。</a:t>
            </a:r>
            <a:endParaRPr 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56000"/>
          </a:blip>
          <a:srcRect r="15090" b="15201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5-d3jn7j8s8jdo4os5dj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290" y="2486660"/>
            <a:ext cx="9105265" cy="32880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0860" y="1240155"/>
            <a:ext cx="11169650" cy="73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0D0D0D"/>
                </a:solidFill>
                <a:cs typeface="+mn-ea"/>
                <a:sym typeface="+mn-lt"/>
              </a:rPr>
              <a:t>参考文献</a:t>
            </a: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5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5085" y="5517515"/>
            <a:ext cx="2170430" cy="5099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178908" y="2997577"/>
            <a:ext cx="8043545" cy="239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cs typeface="+mn-ea"/>
                <a:sym typeface="+mn-lt"/>
              </a:rPr>
              <a:t>数据集：</a:t>
            </a:r>
            <a:r>
              <a:rPr lang="en-US" altLang="zh-CN" sz="1400" dirty="0">
                <a:solidFill>
                  <a:srgbClr val="262626"/>
                </a:solidFill>
                <a:cs typeface="+mn-ea"/>
                <a:sym typeface="+mn-lt"/>
                <a:hlinkClick r:id="rId7"/>
              </a:rPr>
              <a:t>https://github.com/allisonhorst/palmerpenguins</a:t>
            </a:r>
            <a:endParaRPr lang="en-US" altLang="zh-CN" sz="1400" dirty="0">
              <a:solidFill>
                <a:srgbClr val="262626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262626"/>
                </a:solidFill>
                <a:cs typeface="+mn-ea"/>
                <a:sym typeface="+mn-lt"/>
              </a:rPr>
              <a:t>数据最初发布于：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文献：</a:t>
            </a:r>
            <a:r>
              <a:rPr lang="en-US" altLang="zh-CN" sz="1400" dirty="0">
                <a:solidFill>
                  <a:srgbClr val="262626"/>
                </a:solidFill>
                <a:cs typeface="+mn-ea"/>
                <a:sym typeface="+mn-lt"/>
              </a:rPr>
              <a:t>Gorman KB, Williams TD, Fraser WR (2014). Ecological sexual dimorphism and environmental variability within a community of Antarctic penguins (genus </a:t>
            </a:r>
            <a:r>
              <a:rPr lang="en-US" altLang="zh-CN" sz="1400" dirty="0" err="1">
                <a:solidFill>
                  <a:srgbClr val="262626"/>
                </a:solidFill>
                <a:cs typeface="+mn-ea"/>
                <a:sym typeface="+mn-lt"/>
              </a:rPr>
              <a:t>Pygoscelis</a:t>
            </a:r>
            <a:r>
              <a:rPr lang="en-US" altLang="zh-CN" sz="1400" dirty="0">
                <a:solidFill>
                  <a:srgbClr val="262626"/>
                </a:solidFill>
                <a:cs typeface="+mn-ea"/>
                <a:sym typeface="+mn-lt"/>
              </a:rPr>
              <a:t>). </a:t>
            </a:r>
            <a:r>
              <a:rPr lang="en-US" altLang="zh-CN" sz="1400" dirty="0" err="1">
                <a:solidFill>
                  <a:srgbClr val="262626"/>
                </a:solidFill>
                <a:cs typeface="+mn-ea"/>
                <a:sym typeface="+mn-lt"/>
              </a:rPr>
              <a:t>PLoS</a:t>
            </a:r>
            <a:r>
              <a:rPr lang="en-US" altLang="zh-CN" sz="1400" dirty="0">
                <a:solidFill>
                  <a:srgbClr val="262626"/>
                </a:solidFill>
                <a:cs typeface="+mn-ea"/>
                <a:sym typeface="+mn-lt"/>
              </a:rPr>
              <a:t> ONE 9(3):e90081. </a:t>
            </a:r>
            <a:r>
              <a:rPr lang="en-US" altLang="zh-CN" sz="1400" b="0" i="0" u="sng" dirty="0">
                <a:solidFill>
                  <a:srgbClr val="1F2328"/>
                </a:solidFill>
                <a:effectLst/>
                <a:cs typeface="+mn-ea"/>
                <a:sym typeface="+mn-lt"/>
                <a:hlinkClick r:id="rId8"/>
              </a:rPr>
              <a:t>https://doi.org/10.1371/journal.pone.0090081</a:t>
            </a:r>
            <a:endParaRPr lang="en-US" altLang="zh-CN" sz="1400" b="0" i="0" dirty="0">
              <a:solidFill>
                <a:srgbClr val="1F2328"/>
              </a:solidFill>
              <a:effectLst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sz="1400" dirty="0">
              <a:cs typeface="+mn-ea"/>
              <a:sym typeface="+mn-lt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5DE055A-FA21-49B4-BCA1-4A886D896E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089" y="4193917"/>
            <a:ext cx="2526517" cy="251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18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/>
          <a:srcRect t="104" b="104"/>
          <a:stretch/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 err="1">
                <a:solidFill>
                  <a:srgbClr val="000000"/>
                </a:solidFill>
                <a:cs typeface="+mn-ea"/>
                <a:sym typeface="+mn-lt"/>
              </a:rPr>
              <a:t>感谢您的观看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439E1"/>
                </a:solidFill>
                <a:cs typeface="+mn-ea"/>
                <a:sym typeface="+mn-lt"/>
              </a:rPr>
              <a:t>THANK YOU FOR READING！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rgbClr val="000000"/>
                </a:solidFill>
                <a:cs typeface="+mn-ea"/>
                <a:sym typeface="+mn-lt"/>
              </a:rPr>
              <a:t>汇报人</a:t>
            </a:r>
            <a:r>
              <a:rPr lang="en-US" sz="16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第九组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cs typeface="+mn-ea"/>
                <a:sym typeface="+mn-lt"/>
              </a:rPr>
              <a:t>汇报日期：2025/11/27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+mn-ea"/>
              <a:sym typeface="+mn-lt"/>
            </a:endParaRPr>
          </a:p>
        </p:txBody>
      </p:sp>
      <p:sp>
        <p:nvSpPr>
          <p:cNvPr id="18" name="Shape 15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19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20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2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2tk5uug0">
      <a:majorFont>
        <a:latin typeface="Times New Roman" panose="020F0302020204030204"/>
        <a:ea typeface="华文中宋"/>
        <a:cs typeface=""/>
      </a:majorFont>
      <a:minorFont>
        <a:latin typeface="Times New Roman" panose="020F0502020204030204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1399</Words>
  <Application>Microsoft Office PowerPoint</Application>
  <PresentationFormat>宽屏</PresentationFormat>
  <Paragraphs>246</Paragraphs>
  <Slides>33</Slides>
  <Notes>33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等线</vt:lpstr>
      <vt:lpstr>Arial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企鹅数据炼金术：从Raw到Insight</dc:title>
  <dc:subject>企鹅数据炼金术：从Raw到Insight</dc:subject>
  <dc:creator>Kimi</dc:creator>
  <cp:lastModifiedBy>1563883475@qq.com</cp:lastModifiedBy>
  <cp:revision>45</cp:revision>
  <dcterms:created xsi:type="dcterms:W3CDTF">2025-11-24T08:13:18Z</dcterms:created>
  <dcterms:modified xsi:type="dcterms:W3CDTF">2025-11-25T04:18:53Z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{"Label":"企鹅数据炼金术：从Raw到Insight","ContentProducer":"001191110108MACG2KBH8F10000","ProduceID":"d4i11jgs8jds7pkkpcdg","ReservedCode1":"","ContentPropagator":"001191110108MACG2KBH8F20000","PropagateID":"d4i11jgs8jds7pkkpcdg","ReservedCode2":""}</vt:lpwstr>
  </property>
</Properties>
</file>